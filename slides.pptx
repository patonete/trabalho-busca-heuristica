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uce Bold" charset="1" panose="00000800000000000000"/>
      <p:regular r:id="rId18"/>
    </p:embeddedFont>
    <p:embeddedFont>
      <p:font typeface="Open Sauce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969" y="407316"/>
            <a:ext cx="1971172" cy="4735548"/>
          </a:xfrm>
          <a:custGeom>
            <a:avLst/>
            <a:gdLst/>
            <a:ahLst/>
            <a:cxnLst/>
            <a:rect r="r" b="b" t="t" l="l"/>
            <a:pathLst>
              <a:path h="4735548" w="1971172">
                <a:moveTo>
                  <a:pt x="0" y="0"/>
                </a:moveTo>
                <a:lnTo>
                  <a:pt x="1971171" y="0"/>
                </a:lnTo>
                <a:lnTo>
                  <a:pt x="1971171" y="4735548"/>
                </a:lnTo>
                <a:lnTo>
                  <a:pt x="0" y="4735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85933" y="4260600"/>
            <a:ext cx="1979348" cy="6359350"/>
          </a:xfrm>
          <a:custGeom>
            <a:avLst/>
            <a:gdLst/>
            <a:ahLst/>
            <a:cxnLst/>
            <a:rect r="r" b="b" t="t" l="l"/>
            <a:pathLst>
              <a:path h="6359350" w="1979348">
                <a:moveTo>
                  <a:pt x="0" y="0"/>
                </a:moveTo>
                <a:lnTo>
                  <a:pt x="1979348" y="0"/>
                </a:lnTo>
                <a:lnTo>
                  <a:pt x="1979348" y="6359350"/>
                </a:lnTo>
                <a:lnTo>
                  <a:pt x="0" y="6359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92392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462332" y="10477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047750" y="51435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40250" y="10668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317264" y="5674088"/>
            <a:ext cx="7653472" cy="1220838"/>
            <a:chOff x="0" y="0"/>
            <a:chExt cx="2015729" cy="321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5729" cy="321538"/>
            </a:xfrm>
            <a:custGeom>
              <a:avLst/>
              <a:gdLst/>
              <a:ahLst/>
              <a:cxnLst/>
              <a:rect r="r" b="b" t="t" l="l"/>
              <a:pathLst>
                <a:path h="321538" w="2015729">
                  <a:moveTo>
                    <a:pt x="101156" y="0"/>
                  </a:moveTo>
                  <a:lnTo>
                    <a:pt x="1914574" y="0"/>
                  </a:lnTo>
                  <a:cubicBezTo>
                    <a:pt x="1970440" y="0"/>
                    <a:pt x="2015729" y="45289"/>
                    <a:pt x="2015729" y="101156"/>
                  </a:cubicBezTo>
                  <a:lnTo>
                    <a:pt x="2015729" y="220382"/>
                  </a:lnTo>
                  <a:cubicBezTo>
                    <a:pt x="2015729" y="276249"/>
                    <a:pt x="1970440" y="321538"/>
                    <a:pt x="1914574" y="321538"/>
                  </a:cubicBezTo>
                  <a:lnTo>
                    <a:pt x="101156" y="321538"/>
                  </a:lnTo>
                  <a:cubicBezTo>
                    <a:pt x="74328" y="321538"/>
                    <a:pt x="48598" y="310880"/>
                    <a:pt x="29628" y="291910"/>
                  </a:cubicBezTo>
                  <a:cubicBezTo>
                    <a:pt x="10657" y="272939"/>
                    <a:pt x="0" y="247210"/>
                    <a:pt x="0" y="220382"/>
                  </a:cubicBezTo>
                  <a:lnTo>
                    <a:pt x="0" y="101156"/>
                  </a:lnTo>
                  <a:cubicBezTo>
                    <a:pt x="0" y="45289"/>
                    <a:pt x="45289" y="0"/>
                    <a:pt x="101156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15729" cy="35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622650" y="3638273"/>
            <a:ext cx="11363283" cy="151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99"/>
              </a:lnSpc>
            </a:pPr>
            <a:r>
              <a:rPr lang="en-US" b="true" sz="885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BUSCA HEURÍSTICA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75836" y="6049197"/>
            <a:ext cx="6936329" cy="42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0"/>
              </a:lnSpc>
            </a:pPr>
            <a:r>
              <a:rPr lang="en-US" b="true" sz="24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Método de busca e resolução de problemas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47750" y="7880268"/>
            <a:ext cx="2608269" cy="1378032"/>
            <a:chOff x="0" y="0"/>
            <a:chExt cx="686952" cy="3629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6952" cy="362939"/>
            </a:xfrm>
            <a:custGeom>
              <a:avLst/>
              <a:gdLst/>
              <a:ahLst/>
              <a:cxnLst/>
              <a:rect r="r" b="b" t="t" l="l"/>
              <a:pathLst>
                <a:path h="362939" w="686952">
                  <a:moveTo>
                    <a:pt x="181469" y="0"/>
                  </a:moveTo>
                  <a:lnTo>
                    <a:pt x="505482" y="0"/>
                  </a:lnTo>
                  <a:cubicBezTo>
                    <a:pt x="553611" y="0"/>
                    <a:pt x="599768" y="19119"/>
                    <a:pt x="633800" y="53151"/>
                  </a:cubicBezTo>
                  <a:cubicBezTo>
                    <a:pt x="667832" y="87183"/>
                    <a:pt x="686952" y="133341"/>
                    <a:pt x="686952" y="181469"/>
                  </a:cubicBezTo>
                  <a:lnTo>
                    <a:pt x="686952" y="181469"/>
                  </a:lnTo>
                  <a:cubicBezTo>
                    <a:pt x="686952" y="281692"/>
                    <a:pt x="605705" y="362939"/>
                    <a:pt x="505482" y="362939"/>
                  </a:cubicBezTo>
                  <a:lnTo>
                    <a:pt x="181469" y="362939"/>
                  </a:lnTo>
                  <a:cubicBezTo>
                    <a:pt x="133341" y="362939"/>
                    <a:pt x="87183" y="343819"/>
                    <a:pt x="53151" y="309787"/>
                  </a:cubicBezTo>
                  <a:cubicBezTo>
                    <a:pt x="19119" y="275755"/>
                    <a:pt x="0" y="229598"/>
                    <a:pt x="0" y="181469"/>
                  </a:cubicBezTo>
                  <a:lnTo>
                    <a:pt x="0" y="181469"/>
                  </a:lnTo>
                  <a:cubicBezTo>
                    <a:pt x="0" y="133341"/>
                    <a:pt x="19119" y="87183"/>
                    <a:pt x="53151" y="53151"/>
                  </a:cubicBezTo>
                  <a:cubicBezTo>
                    <a:pt x="87183" y="19119"/>
                    <a:pt x="133341" y="0"/>
                    <a:pt x="181469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86952" cy="401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8040077"/>
            <a:ext cx="2627319" cy="102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1453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Daniel Jorge</a:t>
            </a:r>
          </a:p>
          <a:p>
            <a:pPr algn="ctr">
              <a:lnSpc>
                <a:spcPts val="2035"/>
              </a:lnSpc>
            </a:pPr>
            <a:r>
              <a:rPr lang="en-US" sz="1453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Guilherme Teodoro</a:t>
            </a:r>
          </a:p>
          <a:p>
            <a:pPr algn="ctr">
              <a:lnSpc>
                <a:spcPts val="2035"/>
              </a:lnSpc>
            </a:pPr>
            <a:r>
              <a:rPr lang="en-US" sz="1453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Nilson Gomes</a:t>
            </a:r>
          </a:p>
          <a:p>
            <a:pPr algn="ctr" marL="0" indent="0" lvl="0">
              <a:lnSpc>
                <a:spcPts val="2035"/>
              </a:lnSpc>
            </a:pPr>
            <a:r>
              <a:rPr lang="en-US" b="true" sz="145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João Marcos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0" y="0"/>
                </a:moveTo>
                <a:lnTo>
                  <a:pt x="2049919" y="0"/>
                </a:lnTo>
                <a:lnTo>
                  <a:pt x="20499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209381" y="51435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204991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49919" y="0"/>
                </a:lnTo>
                <a:lnTo>
                  <a:pt x="2049919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92392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462332" y="10477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047750" y="51435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40250" y="10668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802988" y="1865262"/>
            <a:ext cx="8682024" cy="1220838"/>
            <a:chOff x="0" y="0"/>
            <a:chExt cx="2286624" cy="321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6624" cy="321538"/>
            </a:xfrm>
            <a:custGeom>
              <a:avLst/>
              <a:gdLst/>
              <a:ahLst/>
              <a:cxnLst/>
              <a:rect r="r" b="b" t="t" l="l"/>
              <a:pathLst>
                <a:path h="321538" w="2286624">
                  <a:moveTo>
                    <a:pt x="89172" y="0"/>
                  </a:moveTo>
                  <a:lnTo>
                    <a:pt x="2197452" y="0"/>
                  </a:lnTo>
                  <a:cubicBezTo>
                    <a:pt x="2246700" y="0"/>
                    <a:pt x="2286624" y="39924"/>
                    <a:pt x="2286624" y="89172"/>
                  </a:cubicBezTo>
                  <a:lnTo>
                    <a:pt x="2286624" y="232366"/>
                  </a:lnTo>
                  <a:cubicBezTo>
                    <a:pt x="2286624" y="281614"/>
                    <a:pt x="2246700" y="321538"/>
                    <a:pt x="2197452" y="321538"/>
                  </a:cubicBezTo>
                  <a:lnTo>
                    <a:pt x="89172" y="321538"/>
                  </a:lnTo>
                  <a:cubicBezTo>
                    <a:pt x="39924" y="321538"/>
                    <a:pt x="0" y="281614"/>
                    <a:pt x="0" y="232366"/>
                  </a:cubicBezTo>
                  <a:lnTo>
                    <a:pt x="0" y="89172"/>
                  </a:lnTo>
                  <a:cubicBezTo>
                    <a:pt x="0" y="39924"/>
                    <a:pt x="39924" y="0"/>
                    <a:pt x="89172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86624" cy="35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35440" y="2136114"/>
            <a:ext cx="8431837" cy="612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92"/>
              </a:lnSpc>
            </a:pPr>
            <a:r>
              <a:rPr lang="en-US" b="true" sz="363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INTRODUÇÃO À BUSCA HEURÍSTICA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47327" y="4012718"/>
            <a:ext cx="13587014" cy="478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589" indent="-325294" lvl="1">
              <a:lnSpc>
                <a:spcPts val="4218"/>
              </a:lnSpc>
              <a:buFont typeface="Arial"/>
              <a:buChar char="•"/>
            </a:pPr>
            <a:r>
              <a:rPr lang="en-US" sz="30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Técnica de Inteligência Artificial para encontrar soluções rapidamente.</a:t>
            </a:r>
          </a:p>
          <a:p>
            <a:pPr algn="l">
              <a:lnSpc>
                <a:spcPts val="4218"/>
              </a:lnSpc>
            </a:pPr>
          </a:p>
          <a:p>
            <a:pPr algn="l" marL="650589" indent="-325294" lvl="1">
              <a:lnSpc>
                <a:spcPts val="4218"/>
              </a:lnSpc>
              <a:buFont typeface="Arial"/>
              <a:buChar char="•"/>
            </a:pPr>
            <a:r>
              <a:rPr lang="en-US" sz="30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Filtra caminhos inviáveis e reduz o espaço de busca.</a:t>
            </a:r>
          </a:p>
          <a:p>
            <a:pPr algn="l">
              <a:lnSpc>
                <a:spcPts val="4218"/>
              </a:lnSpc>
            </a:pPr>
          </a:p>
          <a:p>
            <a:pPr algn="l" marL="650589" indent="-325294" lvl="1">
              <a:lnSpc>
                <a:spcPts val="4218"/>
              </a:lnSpc>
              <a:buFont typeface="Arial"/>
              <a:buChar char="•"/>
            </a:pPr>
            <a:r>
              <a:rPr lang="en-US" sz="30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Economiza tempo e recursos computacionais.</a:t>
            </a:r>
          </a:p>
          <a:p>
            <a:pPr algn="l">
              <a:lnSpc>
                <a:spcPts val="4218"/>
              </a:lnSpc>
            </a:pPr>
          </a:p>
          <a:p>
            <a:pPr algn="l" marL="650589" indent="-325294" lvl="1">
              <a:lnSpc>
                <a:spcPts val="4218"/>
              </a:lnSpc>
              <a:buFont typeface="Arial"/>
              <a:buChar char="•"/>
            </a:pPr>
            <a:r>
              <a:rPr lang="en-US" sz="30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Auxilia na tomada de decisões em problemas complexos.</a:t>
            </a:r>
          </a:p>
          <a:p>
            <a:pPr algn="ctr" marL="0" indent="0" lvl="0">
              <a:lnSpc>
                <a:spcPts val="421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0" y="0"/>
                </a:moveTo>
                <a:lnTo>
                  <a:pt x="2049919" y="0"/>
                </a:lnTo>
                <a:lnTo>
                  <a:pt x="20499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209381" y="51435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204991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49919" y="0"/>
                </a:lnTo>
                <a:lnTo>
                  <a:pt x="2049919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92392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462332" y="10477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047750" y="51435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40250" y="10668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097644" y="1524667"/>
            <a:ext cx="10158930" cy="1323856"/>
            <a:chOff x="0" y="0"/>
            <a:chExt cx="2675603" cy="348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75603" cy="348670"/>
            </a:xfrm>
            <a:custGeom>
              <a:avLst/>
              <a:gdLst/>
              <a:ahLst/>
              <a:cxnLst/>
              <a:rect r="r" b="b" t="t" l="l"/>
              <a:pathLst>
                <a:path h="348670" w="2675603">
                  <a:moveTo>
                    <a:pt x="76208" y="0"/>
                  </a:moveTo>
                  <a:lnTo>
                    <a:pt x="2599395" y="0"/>
                  </a:lnTo>
                  <a:cubicBezTo>
                    <a:pt x="2641484" y="0"/>
                    <a:pt x="2675603" y="34119"/>
                    <a:pt x="2675603" y="76208"/>
                  </a:cubicBezTo>
                  <a:lnTo>
                    <a:pt x="2675603" y="272462"/>
                  </a:lnTo>
                  <a:cubicBezTo>
                    <a:pt x="2675603" y="314550"/>
                    <a:pt x="2641484" y="348670"/>
                    <a:pt x="2599395" y="348670"/>
                  </a:cubicBezTo>
                  <a:lnTo>
                    <a:pt x="76208" y="348670"/>
                  </a:lnTo>
                  <a:cubicBezTo>
                    <a:pt x="34119" y="348670"/>
                    <a:pt x="0" y="314550"/>
                    <a:pt x="0" y="272462"/>
                  </a:cubicBezTo>
                  <a:lnTo>
                    <a:pt x="0" y="76208"/>
                  </a:lnTo>
                  <a:cubicBezTo>
                    <a:pt x="0" y="34119"/>
                    <a:pt x="34119" y="0"/>
                    <a:pt x="76208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75603" cy="386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018342" y="3047694"/>
            <a:ext cx="4352925" cy="5569843"/>
          </a:xfrm>
          <a:custGeom>
            <a:avLst/>
            <a:gdLst/>
            <a:ahLst/>
            <a:cxnLst/>
            <a:rect r="r" b="b" t="t" l="l"/>
            <a:pathLst>
              <a:path h="5569843" w="4352925">
                <a:moveTo>
                  <a:pt x="0" y="0"/>
                </a:moveTo>
                <a:lnTo>
                  <a:pt x="4352925" y="0"/>
                </a:lnTo>
                <a:lnTo>
                  <a:pt x="4352925" y="5569843"/>
                </a:lnTo>
                <a:lnTo>
                  <a:pt x="0" y="5569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42" t="0" r="-1742" b="0"/>
            </a:stretch>
          </a:blipFill>
          <a:ln w="38100" cap="rnd">
            <a:solidFill>
              <a:srgbClr val="A3A3A3"/>
            </a:solidFill>
            <a:prstDash val="solid"/>
            <a:round/>
          </a:ln>
        </p:spPr>
      </p:sp>
      <p:sp>
        <p:nvSpPr>
          <p:cNvPr name="TextBox 12" id="12"/>
          <p:cNvSpPr txBox="true"/>
          <p:nvPr/>
        </p:nvSpPr>
        <p:spPr>
          <a:xfrm rot="0">
            <a:off x="4222745" y="1630091"/>
            <a:ext cx="9842509" cy="971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02"/>
              </a:lnSpc>
            </a:pPr>
            <a:r>
              <a:rPr lang="en-US" b="true" sz="56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 QUE É UMA HEURÍSTICA?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13715" y="3624917"/>
            <a:ext cx="7910290" cy="4780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2252" indent="-246126" lvl="1">
              <a:lnSpc>
                <a:spcPts val="3191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egra prática baseada em experiência e contexto.</a:t>
            </a:r>
          </a:p>
          <a:p>
            <a:pPr algn="l">
              <a:lnSpc>
                <a:spcPts val="3191"/>
              </a:lnSpc>
            </a:pPr>
          </a:p>
          <a:p>
            <a:pPr algn="l" marL="492252" indent="-246126" lvl="1">
              <a:lnSpc>
                <a:spcPts val="3191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Funciona como um atalho para tomada de decisões.</a:t>
            </a:r>
          </a:p>
          <a:p>
            <a:pPr algn="l">
              <a:lnSpc>
                <a:spcPts val="3191"/>
              </a:lnSpc>
            </a:pPr>
          </a:p>
          <a:p>
            <a:pPr algn="l" marL="492252" indent="-246126" lvl="1">
              <a:lnSpc>
                <a:spcPts val="3191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Evita analisar todas as possibilidades.</a:t>
            </a:r>
          </a:p>
          <a:p>
            <a:pPr algn="l">
              <a:lnSpc>
                <a:spcPts val="3191"/>
              </a:lnSpc>
            </a:pPr>
          </a:p>
          <a:p>
            <a:pPr algn="l" marL="492252" indent="-246126" lvl="1">
              <a:lnSpc>
                <a:spcPts val="3191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Exemplo: procurar vaga de estacionamento perto do destino.</a:t>
            </a:r>
          </a:p>
          <a:p>
            <a:pPr algn="l">
              <a:lnSpc>
                <a:spcPts val="3191"/>
              </a:lnSpc>
            </a:pPr>
          </a:p>
          <a:p>
            <a:pPr algn="l" marL="492252" indent="-246126" lvl="1">
              <a:lnSpc>
                <a:spcPts val="3191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Não garante a melhor solução, mas encontra boas soluções rapidamente.</a:t>
            </a:r>
          </a:p>
          <a:p>
            <a:pPr algn="l">
              <a:lnSpc>
                <a:spcPts val="319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7750" y="10287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0" y="0"/>
                </a:moveTo>
                <a:lnTo>
                  <a:pt x="2049919" y="0"/>
                </a:lnTo>
                <a:lnTo>
                  <a:pt x="20499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209381" y="51435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204991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49919" y="0"/>
                </a:lnTo>
                <a:lnTo>
                  <a:pt x="2049919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92392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462332" y="10477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047750" y="51435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40250" y="10668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880981" y="1574299"/>
            <a:ext cx="6526038" cy="1220838"/>
            <a:chOff x="0" y="0"/>
            <a:chExt cx="1718792" cy="321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18792" cy="321538"/>
            </a:xfrm>
            <a:custGeom>
              <a:avLst/>
              <a:gdLst/>
              <a:ahLst/>
              <a:cxnLst/>
              <a:rect r="r" b="b" t="t" l="l"/>
              <a:pathLst>
                <a:path h="321538" w="1718792">
                  <a:moveTo>
                    <a:pt x="118631" y="0"/>
                  </a:moveTo>
                  <a:lnTo>
                    <a:pt x="1600161" y="0"/>
                  </a:lnTo>
                  <a:cubicBezTo>
                    <a:pt x="1665679" y="0"/>
                    <a:pt x="1718792" y="53113"/>
                    <a:pt x="1718792" y="118631"/>
                  </a:cubicBezTo>
                  <a:lnTo>
                    <a:pt x="1718792" y="202906"/>
                  </a:lnTo>
                  <a:cubicBezTo>
                    <a:pt x="1718792" y="268425"/>
                    <a:pt x="1665679" y="321538"/>
                    <a:pt x="1600161" y="321538"/>
                  </a:cubicBezTo>
                  <a:lnTo>
                    <a:pt x="118631" y="321538"/>
                  </a:lnTo>
                  <a:cubicBezTo>
                    <a:pt x="87168" y="321538"/>
                    <a:pt x="56994" y="309039"/>
                    <a:pt x="34746" y="286791"/>
                  </a:cubicBezTo>
                  <a:cubicBezTo>
                    <a:pt x="12499" y="264544"/>
                    <a:pt x="0" y="234369"/>
                    <a:pt x="0" y="202906"/>
                  </a:cubicBezTo>
                  <a:lnTo>
                    <a:pt x="0" y="118631"/>
                  </a:lnTo>
                  <a:cubicBezTo>
                    <a:pt x="0" y="53113"/>
                    <a:pt x="53113" y="0"/>
                    <a:pt x="118631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18792" cy="35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269823" y="1605281"/>
            <a:ext cx="5748355" cy="80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16"/>
              </a:lnSpc>
            </a:pPr>
            <a:r>
              <a:rPr lang="en-US" b="true" sz="472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COMO FUNCIONA?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57307" y="3505477"/>
            <a:ext cx="4182653" cy="1434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0"/>
              </a:lnSpc>
            </a:pPr>
            <a:r>
              <a:rPr lang="en-US" sz="203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Utiliza uma função heurística que estima a distância até o objetivo e prioriza os caminhos que parecem mais promissores.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784999" y="3707811"/>
            <a:ext cx="1448483" cy="1067619"/>
            <a:chOff x="0" y="0"/>
            <a:chExt cx="381494" cy="2811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1494" cy="281184"/>
            </a:xfrm>
            <a:custGeom>
              <a:avLst/>
              <a:gdLst/>
              <a:ahLst/>
              <a:cxnLst/>
              <a:rect r="r" b="b" t="t" l="l"/>
              <a:pathLst>
                <a:path h="281184" w="381494">
                  <a:moveTo>
                    <a:pt x="140592" y="0"/>
                  </a:moveTo>
                  <a:lnTo>
                    <a:pt x="240902" y="0"/>
                  </a:lnTo>
                  <a:cubicBezTo>
                    <a:pt x="318548" y="0"/>
                    <a:pt x="381494" y="62945"/>
                    <a:pt x="381494" y="140592"/>
                  </a:cubicBezTo>
                  <a:lnTo>
                    <a:pt x="381494" y="140592"/>
                  </a:lnTo>
                  <a:cubicBezTo>
                    <a:pt x="381494" y="218239"/>
                    <a:pt x="318548" y="281184"/>
                    <a:pt x="240902" y="281184"/>
                  </a:cubicBezTo>
                  <a:lnTo>
                    <a:pt x="140592" y="281184"/>
                  </a:lnTo>
                  <a:cubicBezTo>
                    <a:pt x="62945" y="281184"/>
                    <a:pt x="0" y="218239"/>
                    <a:pt x="0" y="140592"/>
                  </a:cubicBezTo>
                  <a:lnTo>
                    <a:pt x="0" y="140592"/>
                  </a:lnTo>
                  <a:cubicBezTo>
                    <a:pt x="0" y="62945"/>
                    <a:pt x="62945" y="0"/>
                    <a:pt x="140592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81494" cy="319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165226" y="3803493"/>
            <a:ext cx="734165" cy="74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07"/>
              </a:lnSpc>
            </a:pPr>
            <a:r>
              <a:rPr lang="en-US" b="true" sz="43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26729" y="3505477"/>
            <a:ext cx="4182653" cy="1434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0"/>
              </a:lnSpc>
            </a:pPr>
            <a:r>
              <a:rPr lang="en-US" sz="203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Reduz o número de tentativas necessárias para encontrar a solução, tornando a busca mais eficiente.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57307" y="6515510"/>
            <a:ext cx="4182653" cy="1796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0"/>
              </a:lnSpc>
            </a:pPr>
            <a:r>
              <a:rPr lang="en-US" sz="203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Não garan</a:t>
            </a:r>
            <a:r>
              <a:rPr lang="en-US" sz="203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 a melhor solução, mas normalmente encontra uma solução satisfatória em menos tempo do que uma busca exaustiva.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26729" y="6515510"/>
            <a:ext cx="4182653" cy="1796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0"/>
              </a:lnSpc>
            </a:pPr>
            <a:r>
              <a:rPr lang="en-US" sz="203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Pod</a:t>
            </a:r>
            <a:r>
              <a:rPr lang="en-US" sz="203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ser aplicada em diversos problemas, como navegação em mapas, planejamento de rotas, jogos e otimização de processos.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738091" y="6876773"/>
            <a:ext cx="1448483" cy="1067619"/>
            <a:chOff x="0" y="0"/>
            <a:chExt cx="381494" cy="2811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1494" cy="281184"/>
            </a:xfrm>
            <a:custGeom>
              <a:avLst/>
              <a:gdLst/>
              <a:ahLst/>
              <a:cxnLst/>
              <a:rect r="r" b="b" t="t" l="l"/>
              <a:pathLst>
                <a:path h="281184" w="381494">
                  <a:moveTo>
                    <a:pt x="140592" y="0"/>
                  </a:moveTo>
                  <a:lnTo>
                    <a:pt x="240902" y="0"/>
                  </a:lnTo>
                  <a:cubicBezTo>
                    <a:pt x="318548" y="0"/>
                    <a:pt x="381494" y="62945"/>
                    <a:pt x="381494" y="140592"/>
                  </a:cubicBezTo>
                  <a:lnTo>
                    <a:pt x="381494" y="140592"/>
                  </a:lnTo>
                  <a:cubicBezTo>
                    <a:pt x="381494" y="218239"/>
                    <a:pt x="318548" y="281184"/>
                    <a:pt x="240902" y="281184"/>
                  </a:cubicBezTo>
                  <a:lnTo>
                    <a:pt x="140592" y="281184"/>
                  </a:lnTo>
                  <a:cubicBezTo>
                    <a:pt x="62945" y="281184"/>
                    <a:pt x="0" y="218239"/>
                    <a:pt x="0" y="140592"/>
                  </a:cubicBezTo>
                  <a:lnTo>
                    <a:pt x="0" y="140592"/>
                  </a:lnTo>
                  <a:cubicBezTo>
                    <a:pt x="0" y="62945"/>
                    <a:pt x="62945" y="0"/>
                    <a:pt x="140592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81494" cy="319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118317" y="6972455"/>
            <a:ext cx="734165" cy="74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07"/>
              </a:lnSpc>
            </a:pPr>
            <a:r>
              <a:rPr lang="en-US" b="true" sz="43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52636" y="3707811"/>
            <a:ext cx="1448483" cy="1067619"/>
            <a:chOff x="0" y="0"/>
            <a:chExt cx="381494" cy="2811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494" cy="281184"/>
            </a:xfrm>
            <a:custGeom>
              <a:avLst/>
              <a:gdLst/>
              <a:ahLst/>
              <a:cxnLst/>
              <a:rect r="r" b="b" t="t" l="l"/>
              <a:pathLst>
                <a:path h="281184" w="381494">
                  <a:moveTo>
                    <a:pt x="140592" y="0"/>
                  </a:moveTo>
                  <a:lnTo>
                    <a:pt x="240902" y="0"/>
                  </a:lnTo>
                  <a:cubicBezTo>
                    <a:pt x="318548" y="0"/>
                    <a:pt x="381494" y="62945"/>
                    <a:pt x="381494" y="140592"/>
                  </a:cubicBezTo>
                  <a:lnTo>
                    <a:pt x="381494" y="140592"/>
                  </a:lnTo>
                  <a:cubicBezTo>
                    <a:pt x="381494" y="218239"/>
                    <a:pt x="318548" y="281184"/>
                    <a:pt x="240902" y="281184"/>
                  </a:cubicBezTo>
                  <a:lnTo>
                    <a:pt x="140592" y="281184"/>
                  </a:lnTo>
                  <a:cubicBezTo>
                    <a:pt x="62945" y="281184"/>
                    <a:pt x="0" y="218239"/>
                    <a:pt x="0" y="140592"/>
                  </a:cubicBezTo>
                  <a:lnTo>
                    <a:pt x="0" y="140592"/>
                  </a:lnTo>
                  <a:cubicBezTo>
                    <a:pt x="0" y="62945"/>
                    <a:pt x="62945" y="0"/>
                    <a:pt x="140592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81494" cy="319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832862" y="3803493"/>
            <a:ext cx="734165" cy="74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07"/>
              </a:lnSpc>
            </a:pPr>
            <a:r>
              <a:rPr lang="en-US" b="true" sz="43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52636" y="6898819"/>
            <a:ext cx="1448483" cy="1067619"/>
            <a:chOff x="0" y="0"/>
            <a:chExt cx="381494" cy="2811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494" cy="281184"/>
            </a:xfrm>
            <a:custGeom>
              <a:avLst/>
              <a:gdLst/>
              <a:ahLst/>
              <a:cxnLst/>
              <a:rect r="r" b="b" t="t" l="l"/>
              <a:pathLst>
                <a:path h="281184" w="381494">
                  <a:moveTo>
                    <a:pt x="140592" y="0"/>
                  </a:moveTo>
                  <a:lnTo>
                    <a:pt x="240902" y="0"/>
                  </a:lnTo>
                  <a:cubicBezTo>
                    <a:pt x="318548" y="0"/>
                    <a:pt x="381494" y="62945"/>
                    <a:pt x="381494" y="140592"/>
                  </a:cubicBezTo>
                  <a:lnTo>
                    <a:pt x="381494" y="140592"/>
                  </a:lnTo>
                  <a:cubicBezTo>
                    <a:pt x="381494" y="218239"/>
                    <a:pt x="318548" y="281184"/>
                    <a:pt x="240902" y="281184"/>
                  </a:cubicBezTo>
                  <a:lnTo>
                    <a:pt x="140592" y="281184"/>
                  </a:lnTo>
                  <a:cubicBezTo>
                    <a:pt x="62945" y="281184"/>
                    <a:pt x="0" y="218239"/>
                    <a:pt x="0" y="140592"/>
                  </a:cubicBezTo>
                  <a:lnTo>
                    <a:pt x="0" y="140592"/>
                  </a:lnTo>
                  <a:cubicBezTo>
                    <a:pt x="0" y="62945"/>
                    <a:pt x="62945" y="0"/>
                    <a:pt x="140592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81494" cy="319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832862" y="6994501"/>
            <a:ext cx="734165" cy="74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07"/>
              </a:lnSpc>
            </a:pPr>
            <a:r>
              <a:rPr lang="en-US" b="true" sz="43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7750" y="10287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0" y="0"/>
                </a:moveTo>
                <a:lnTo>
                  <a:pt x="2049919" y="0"/>
                </a:lnTo>
                <a:lnTo>
                  <a:pt x="20499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209381" y="51435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204991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49919" y="0"/>
                </a:lnTo>
                <a:lnTo>
                  <a:pt x="2049919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92392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462332" y="10477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047750" y="51435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40250" y="10668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880981" y="1574299"/>
            <a:ext cx="6526038" cy="1220838"/>
            <a:chOff x="0" y="0"/>
            <a:chExt cx="1718792" cy="321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18792" cy="321538"/>
            </a:xfrm>
            <a:custGeom>
              <a:avLst/>
              <a:gdLst/>
              <a:ahLst/>
              <a:cxnLst/>
              <a:rect r="r" b="b" t="t" l="l"/>
              <a:pathLst>
                <a:path h="321538" w="1718792">
                  <a:moveTo>
                    <a:pt x="118631" y="0"/>
                  </a:moveTo>
                  <a:lnTo>
                    <a:pt x="1600161" y="0"/>
                  </a:lnTo>
                  <a:cubicBezTo>
                    <a:pt x="1665679" y="0"/>
                    <a:pt x="1718792" y="53113"/>
                    <a:pt x="1718792" y="118631"/>
                  </a:cubicBezTo>
                  <a:lnTo>
                    <a:pt x="1718792" y="202906"/>
                  </a:lnTo>
                  <a:cubicBezTo>
                    <a:pt x="1718792" y="268425"/>
                    <a:pt x="1665679" y="321538"/>
                    <a:pt x="1600161" y="321538"/>
                  </a:cubicBezTo>
                  <a:lnTo>
                    <a:pt x="118631" y="321538"/>
                  </a:lnTo>
                  <a:cubicBezTo>
                    <a:pt x="87168" y="321538"/>
                    <a:pt x="56994" y="309039"/>
                    <a:pt x="34746" y="286791"/>
                  </a:cubicBezTo>
                  <a:cubicBezTo>
                    <a:pt x="12499" y="264544"/>
                    <a:pt x="0" y="234369"/>
                    <a:pt x="0" y="202906"/>
                  </a:cubicBezTo>
                  <a:lnTo>
                    <a:pt x="0" y="118631"/>
                  </a:lnTo>
                  <a:cubicBezTo>
                    <a:pt x="0" y="53113"/>
                    <a:pt x="53113" y="0"/>
                    <a:pt x="118631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18792" cy="35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741034" y="3048000"/>
            <a:ext cx="7910290" cy="598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2252" indent="-246126" lvl="1">
              <a:lnSpc>
                <a:spcPts val="3191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eurística utilizada em algoritmos de busca</a:t>
            </a:r>
          </a:p>
          <a:p>
            <a:pPr algn="l">
              <a:lnSpc>
                <a:spcPts val="3191"/>
              </a:lnSpc>
            </a:pPr>
          </a:p>
          <a:p>
            <a:pPr algn="l" marL="492252" indent="-246126" lvl="1">
              <a:lnSpc>
                <a:spcPts val="3191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Calcula a distância em linha reta entre dois pontos</a:t>
            </a:r>
          </a:p>
          <a:p>
            <a:pPr algn="l">
              <a:lnSpc>
                <a:spcPts val="3191"/>
              </a:lnSpc>
            </a:pPr>
          </a:p>
          <a:p>
            <a:pPr algn="l" marL="492252" indent="-246126" lvl="1">
              <a:lnSpc>
                <a:spcPts val="3191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Baseada no Teorema de Pitágoras</a:t>
            </a:r>
          </a:p>
          <a:p>
            <a:pPr algn="l">
              <a:lnSpc>
                <a:spcPts val="3191"/>
              </a:lnSpc>
            </a:pPr>
          </a:p>
          <a:p>
            <a:pPr algn="l" marL="492252" indent="-246126" lvl="1">
              <a:lnSpc>
                <a:spcPts val="3191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Muit</a:t>
            </a: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utilizada quando movimentos diagonais são permitidos</a:t>
            </a:r>
          </a:p>
          <a:p>
            <a:pPr algn="l">
              <a:lnSpc>
                <a:spcPts val="3191"/>
              </a:lnSpc>
            </a:pPr>
          </a:p>
          <a:p>
            <a:pPr algn="l" marL="492252" indent="-246126" lvl="1">
              <a:lnSpc>
                <a:spcPts val="3191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Fornece uma estimativa mais realista da distância direta</a:t>
            </a:r>
          </a:p>
          <a:p>
            <a:pPr algn="l">
              <a:lnSpc>
                <a:spcPts val="3191"/>
              </a:lnSpc>
            </a:pPr>
          </a:p>
          <a:p>
            <a:pPr algn="l" marL="492252" indent="-246126" lvl="1">
              <a:lnSpc>
                <a:spcPts val="3191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Fórmula: d = √((x₂ - x₁)² + (y₂ - y₁)²)</a:t>
            </a:r>
          </a:p>
          <a:p>
            <a:pPr algn="l">
              <a:lnSpc>
                <a:spcPts val="3191"/>
              </a:lnSpc>
            </a:pPr>
          </a:p>
          <a:p>
            <a:pPr algn="l">
              <a:lnSpc>
                <a:spcPts val="3191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831331" y="3280912"/>
            <a:ext cx="4960795" cy="5487489"/>
          </a:xfrm>
          <a:custGeom>
            <a:avLst/>
            <a:gdLst/>
            <a:ahLst/>
            <a:cxnLst/>
            <a:rect r="r" b="b" t="t" l="l"/>
            <a:pathLst>
              <a:path h="5487489" w="4960795">
                <a:moveTo>
                  <a:pt x="0" y="0"/>
                </a:moveTo>
                <a:lnTo>
                  <a:pt x="4960795" y="0"/>
                </a:lnTo>
                <a:lnTo>
                  <a:pt x="4960795" y="5487489"/>
                </a:lnTo>
                <a:lnTo>
                  <a:pt x="0" y="54874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60" r="0" b="-106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85224" y="1803443"/>
            <a:ext cx="6421795" cy="68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21"/>
              </a:lnSpc>
            </a:pPr>
            <a:r>
              <a:rPr lang="en-US" b="true" sz="401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DISTÂNCIA EUCLIDIANA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7750" y="10287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0" y="0"/>
                </a:moveTo>
                <a:lnTo>
                  <a:pt x="2049919" y="0"/>
                </a:lnTo>
                <a:lnTo>
                  <a:pt x="20499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209381" y="51435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204991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49919" y="0"/>
                </a:lnTo>
                <a:lnTo>
                  <a:pt x="2049919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92392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462332" y="10477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047750" y="51435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40250" y="10668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880981" y="1574299"/>
            <a:ext cx="6526038" cy="1220838"/>
            <a:chOff x="0" y="0"/>
            <a:chExt cx="1718792" cy="321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18792" cy="321538"/>
            </a:xfrm>
            <a:custGeom>
              <a:avLst/>
              <a:gdLst/>
              <a:ahLst/>
              <a:cxnLst/>
              <a:rect r="r" b="b" t="t" l="l"/>
              <a:pathLst>
                <a:path h="321538" w="1718792">
                  <a:moveTo>
                    <a:pt x="118631" y="0"/>
                  </a:moveTo>
                  <a:lnTo>
                    <a:pt x="1600161" y="0"/>
                  </a:lnTo>
                  <a:cubicBezTo>
                    <a:pt x="1665679" y="0"/>
                    <a:pt x="1718792" y="53113"/>
                    <a:pt x="1718792" y="118631"/>
                  </a:cubicBezTo>
                  <a:lnTo>
                    <a:pt x="1718792" y="202906"/>
                  </a:lnTo>
                  <a:cubicBezTo>
                    <a:pt x="1718792" y="268425"/>
                    <a:pt x="1665679" y="321538"/>
                    <a:pt x="1600161" y="321538"/>
                  </a:cubicBezTo>
                  <a:lnTo>
                    <a:pt x="118631" y="321538"/>
                  </a:lnTo>
                  <a:cubicBezTo>
                    <a:pt x="87168" y="321538"/>
                    <a:pt x="56994" y="309039"/>
                    <a:pt x="34746" y="286791"/>
                  </a:cubicBezTo>
                  <a:cubicBezTo>
                    <a:pt x="12499" y="264544"/>
                    <a:pt x="0" y="234369"/>
                    <a:pt x="0" y="202906"/>
                  </a:cubicBezTo>
                  <a:lnTo>
                    <a:pt x="0" y="118631"/>
                  </a:lnTo>
                  <a:cubicBezTo>
                    <a:pt x="0" y="53113"/>
                    <a:pt x="53113" y="0"/>
                    <a:pt x="118631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18792" cy="35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232349" y="3026558"/>
            <a:ext cx="5381822" cy="5785619"/>
          </a:xfrm>
          <a:custGeom>
            <a:avLst/>
            <a:gdLst/>
            <a:ahLst/>
            <a:cxnLst/>
            <a:rect r="r" b="b" t="t" l="l"/>
            <a:pathLst>
              <a:path h="5785619" w="5381822">
                <a:moveTo>
                  <a:pt x="0" y="0"/>
                </a:moveTo>
                <a:lnTo>
                  <a:pt x="5381822" y="0"/>
                </a:lnTo>
                <a:lnTo>
                  <a:pt x="5381822" y="5785619"/>
                </a:lnTo>
                <a:lnTo>
                  <a:pt x="0" y="5785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46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985224" y="1750188"/>
            <a:ext cx="6421795" cy="1398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1"/>
              </a:lnSpc>
            </a:pPr>
            <a:r>
              <a:rPr lang="en-US" b="true" sz="401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DISTÂNCIA MANHATTAN</a:t>
            </a:r>
          </a:p>
          <a:p>
            <a:pPr algn="ctr" marL="0" indent="0" lvl="0">
              <a:lnSpc>
                <a:spcPts val="562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744464" y="3709948"/>
            <a:ext cx="7910290" cy="438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2252" indent="-246126" lvl="1">
              <a:lnSpc>
                <a:spcPts val="3191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eurística utilizada em algoritmos de busca</a:t>
            </a:r>
          </a:p>
          <a:p>
            <a:pPr algn="l">
              <a:lnSpc>
                <a:spcPts val="3191"/>
              </a:lnSpc>
            </a:pPr>
          </a:p>
          <a:p>
            <a:pPr algn="l" marL="492252" indent="-246126" lvl="1">
              <a:lnSpc>
                <a:spcPts val="3191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Estima a distância entre dois pontos em uma grade</a:t>
            </a:r>
          </a:p>
          <a:p>
            <a:pPr algn="l">
              <a:lnSpc>
                <a:spcPts val="3191"/>
              </a:lnSpc>
            </a:pPr>
          </a:p>
          <a:p>
            <a:pPr algn="l" marL="492252" indent="-246126" lvl="1">
              <a:lnSpc>
                <a:spcPts val="3191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Considera apenas movimentos horizontais e verticais</a:t>
            </a:r>
          </a:p>
          <a:p>
            <a:pPr algn="l">
              <a:lnSpc>
                <a:spcPts val="3191"/>
              </a:lnSpc>
            </a:pPr>
          </a:p>
          <a:p>
            <a:pPr algn="l" marL="492252" indent="-246126" lvl="1">
              <a:lnSpc>
                <a:spcPts val="3191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Muit</a:t>
            </a: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utilizada no algoritmo A*</a:t>
            </a:r>
          </a:p>
          <a:p>
            <a:pPr algn="l">
              <a:lnSpc>
                <a:spcPts val="3191"/>
              </a:lnSpc>
            </a:pPr>
          </a:p>
          <a:p>
            <a:pPr algn="l" marL="492252" indent="-246126" lvl="1">
              <a:lnSpc>
                <a:spcPts val="3191"/>
              </a:lnSpc>
              <a:buFont typeface="Arial"/>
              <a:buChar char="•"/>
            </a:pPr>
            <a:r>
              <a:rPr lang="en-US" sz="2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Fórmula: d = |x₂ - x₁| + |y₂ - y₁|</a:t>
            </a:r>
          </a:p>
          <a:p>
            <a:pPr algn="l">
              <a:lnSpc>
                <a:spcPts val="319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0" y="0"/>
                </a:moveTo>
                <a:lnTo>
                  <a:pt x="2049919" y="0"/>
                </a:lnTo>
                <a:lnTo>
                  <a:pt x="20499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15291" y="5156118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204991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49918" y="0"/>
                </a:lnTo>
                <a:lnTo>
                  <a:pt x="204991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92392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462332" y="10477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047750" y="51435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40250" y="10668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091331" y="1628230"/>
            <a:ext cx="8105338" cy="1220838"/>
            <a:chOff x="0" y="0"/>
            <a:chExt cx="2134739" cy="321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4739" cy="321538"/>
            </a:xfrm>
            <a:custGeom>
              <a:avLst/>
              <a:gdLst/>
              <a:ahLst/>
              <a:cxnLst/>
              <a:rect r="r" b="b" t="t" l="l"/>
              <a:pathLst>
                <a:path h="321538" w="2134739">
                  <a:moveTo>
                    <a:pt x="95516" y="0"/>
                  </a:moveTo>
                  <a:lnTo>
                    <a:pt x="2039223" y="0"/>
                  </a:lnTo>
                  <a:cubicBezTo>
                    <a:pt x="2091975" y="0"/>
                    <a:pt x="2134739" y="42764"/>
                    <a:pt x="2134739" y="95516"/>
                  </a:cubicBezTo>
                  <a:lnTo>
                    <a:pt x="2134739" y="226021"/>
                  </a:lnTo>
                  <a:cubicBezTo>
                    <a:pt x="2134739" y="278774"/>
                    <a:pt x="2091975" y="321538"/>
                    <a:pt x="2039223" y="321538"/>
                  </a:cubicBezTo>
                  <a:lnTo>
                    <a:pt x="95516" y="321538"/>
                  </a:lnTo>
                  <a:cubicBezTo>
                    <a:pt x="70184" y="321538"/>
                    <a:pt x="45889" y="311474"/>
                    <a:pt x="27976" y="293562"/>
                  </a:cubicBezTo>
                  <a:cubicBezTo>
                    <a:pt x="10063" y="275649"/>
                    <a:pt x="0" y="251354"/>
                    <a:pt x="0" y="226021"/>
                  </a:cubicBezTo>
                  <a:lnTo>
                    <a:pt x="0" y="95516"/>
                  </a:lnTo>
                  <a:cubicBezTo>
                    <a:pt x="0" y="42764"/>
                    <a:pt x="42764" y="0"/>
                    <a:pt x="95516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34739" cy="35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467723" y="3134986"/>
            <a:ext cx="6747568" cy="5482397"/>
          </a:xfrm>
          <a:custGeom>
            <a:avLst/>
            <a:gdLst/>
            <a:ahLst/>
            <a:cxnLst/>
            <a:rect r="r" b="b" t="t" l="l"/>
            <a:pathLst>
              <a:path h="5482397" w="6747568">
                <a:moveTo>
                  <a:pt x="0" y="0"/>
                </a:moveTo>
                <a:lnTo>
                  <a:pt x="6747568" y="0"/>
                </a:lnTo>
                <a:lnTo>
                  <a:pt x="6747568" y="5482397"/>
                </a:lnTo>
                <a:lnTo>
                  <a:pt x="0" y="54823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4581" t="-37029" r="-74559" b="-37753"/>
            </a:stretch>
          </a:blipFill>
          <a:ln w="38100" cap="rnd">
            <a:solidFill>
              <a:srgbClr val="A3A3A3"/>
            </a:solidFill>
            <a:prstDash val="solid"/>
            <a:round/>
          </a:ln>
        </p:spPr>
      </p:sp>
      <p:sp>
        <p:nvSpPr>
          <p:cNvPr name="TextBox 12" id="12"/>
          <p:cNvSpPr txBox="true"/>
          <p:nvPr/>
        </p:nvSpPr>
        <p:spPr>
          <a:xfrm rot="0">
            <a:off x="5255081" y="1878999"/>
            <a:ext cx="7777838" cy="65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73"/>
              </a:lnSpc>
            </a:pPr>
            <a:r>
              <a:rPr lang="en-US" b="true" sz="390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EXEMPLO PRÁTICO: LABIRINTO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72582" y="3158938"/>
            <a:ext cx="6866824" cy="571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</a:p>
          <a:p>
            <a:pPr algn="l" marL="500293" indent="-250147" lvl="1">
              <a:lnSpc>
                <a:spcPts val="3244"/>
              </a:lnSpc>
              <a:buFont typeface="Arial"/>
              <a:buChar char="•"/>
            </a:pPr>
            <a:r>
              <a:rPr lang="en-US" sz="23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Prioriza caminhos que parecem levar à saída.</a:t>
            </a:r>
          </a:p>
          <a:p>
            <a:pPr algn="l">
              <a:lnSpc>
                <a:spcPts val="3244"/>
              </a:lnSpc>
            </a:pPr>
          </a:p>
          <a:p>
            <a:pPr algn="l" marL="500293" indent="-250147" lvl="1">
              <a:lnSpc>
                <a:spcPts val="3244"/>
              </a:lnSpc>
              <a:buFont typeface="Arial"/>
              <a:buChar char="•"/>
            </a:pPr>
            <a:r>
              <a:rPr lang="en-US" sz="23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Explora menos rotas desnecessárias.</a:t>
            </a:r>
          </a:p>
          <a:p>
            <a:pPr algn="l">
              <a:lnSpc>
                <a:spcPts val="3244"/>
              </a:lnSpc>
            </a:pPr>
          </a:p>
          <a:p>
            <a:pPr algn="l" marL="500293" indent="-250147" lvl="1">
              <a:lnSpc>
                <a:spcPts val="3244"/>
              </a:lnSpc>
              <a:buFont typeface="Arial"/>
              <a:buChar char="•"/>
            </a:pPr>
            <a:r>
              <a:rPr lang="en-US" sz="23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Reduz o número de passos e o tempo de busca.</a:t>
            </a:r>
          </a:p>
          <a:p>
            <a:pPr algn="l">
              <a:lnSpc>
                <a:spcPts val="3244"/>
              </a:lnSpc>
            </a:pPr>
          </a:p>
          <a:p>
            <a:pPr algn="l" marL="500293" indent="-250147" lvl="1">
              <a:lnSpc>
                <a:spcPts val="3244"/>
              </a:lnSpc>
              <a:buFont typeface="Arial"/>
              <a:buChar char="•"/>
            </a:pPr>
            <a:r>
              <a:rPr lang="en-US" sz="23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Utiliza a função heurística para guiar a </a:t>
            </a:r>
          </a:p>
          <a:p>
            <a:pPr algn="l">
              <a:lnSpc>
                <a:spcPts val="3244"/>
              </a:lnSpc>
            </a:pPr>
            <a:r>
              <a:rPr lang="en-US" sz="23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</a:t>
            </a:r>
            <a:r>
              <a:rPr lang="en-US" sz="23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navegação.</a:t>
            </a:r>
          </a:p>
          <a:p>
            <a:pPr algn="l">
              <a:lnSpc>
                <a:spcPts val="3244"/>
              </a:lnSpc>
            </a:pPr>
          </a:p>
          <a:p>
            <a:pPr algn="l" marL="500293" indent="-250147" lvl="1">
              <a:lnSpc>
                <a:spcPts val="3244"/>
              </a:lnSpc>
              <a:buFont typeface="Arial"/>
              <a:buChar char="•"/>
            </a:pPr>
            <a:r>
              <a:rPr lang="en-US" sz="23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Mais eficiente que uma busca cega.</a:t>
            </a:r>
          </a:p>
          <a:p>
            <a:pPr algn="l" marL="0" indent="0" lvl="0">
              <a:lnSpc>
                <a:spcPts val="324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0592" y="840686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0" y="0"/>
                </a:moveTo>
                <a:lnTo>
                  <a:pt x="2049918" y="0"/>
                </a:lnTo>
                <a:lnTo>
                  <a:pt x="20499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209381" y="51435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204991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49919" y="0"/>
                </a:lnTo>
                <a:lnTo>
                  <a:pt x="2049919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526404" y="9388361"/>
            <a:ext cx="14299236" cy="19744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462334" y="840686"/>
            <a:ext cx="14492315" cy="2001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546148" y="5143500"/>
            <a:ext cx="0" cy="4238195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934666" y="860696"/>
            <a:ext cx="0" cy="4295422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8341" y="1142028"/>
            <a:ext cx="10203081" cy="1220838"/>
            <a:chOff x="0" y="0"/>
            <a:chExt cx="2687231" cy="321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87231" cy="321538"/>
            </a:xfrm>
            <a:custGeom>
              <a:avLst/>
              <a:gdLst/>
              <a:ahLst/>
              <a:cxnLst/>
              <a:rect r="r" b="b" t="t" l="l"/>
              <a:pathLst>
                <a:path h="321538" w="2687231">
                  <a:moveTo>
                    <a:pt x="75878" y="0"/>
                  </a:moveTo>
                  <a:lnTo>
                    <a:pt x="2611353" y="0"/>
                  </a:lnTo>
                  <a:cubicBezTo>
                    <a:pt x="2631477" y="0"/>
                    <a:pt x="2650777" y="7994"/>
                    <a:pt x="2665007" y="22224"/>
                  </a:cubicBezTo>
                  <a:cubicBezTo>
                    <a:pt x="2679237" y="36454"/>
                    <a:pt x="2687231" y="55754"/>
                    <a:pt x="2687231" y="75878"/>
                  </a:cubicBezTo>
                  <a:lnTo>
                    <a:pt x="2687231" y="245659"/>
                  </a:lnTo>
                  <a:cubicBezTo>
                    <a:pt x="2687231" y="287566"/>
                    <a:pt x="2653259" y="321538"/>
                    <a:pt x="2611353" y="321538"/>
                  </a:cubicBezTo>
                  <a:lnTo>
                    <a:pt x="75878" y="321538"/>
                  </a:lnTo>
                  <a:cubicBezTo>
                    <a:pt x="55754" y="321538"/>
                    <a:pt x="36454" y="313543"/>
                    <a:pt x="22224" y="299313"/>
                  </a:cubicBezTo>
                  <a:cubicBezTo>
                    <a:pt x="7994" y="285083"/>
                    <a:pt x="0" y="265784"/>
                    <a:pt x="0" y="245659"/>
                  </a:cubicBezTo>
                  <a:lnTo>
                    <a:pt x="0" y="75878"/>
                  </a:lnTo>
                  <a:cubicBezTo>
                    <a:pt x="0" y="55754"/>
                    <a:pt x="7994" y="36454"/>
                    <a:pt x="22224" y="22224"/>
                  </a:cubicBezTo>
                  <a:cubicBezTo>
                    <a:pt x="36454" y="7994"/>
                    <a:pt x="55754" y="0"/>
                    <a:pt x="75878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87231" cy="35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24040" y="1006329"/>
            <a:ext cx="7588672" cy="8217252"/>
          </a:xfrm>
          <a:custGeom>
            <a:avLst/>
            <a:gdLst/>
            <a:ahLst/>
            <a:cxnLst/>
            <a:rect r="r" b="b" t="t" l="l"/>
            <a:pathLst>
              <a:path h="8217252" w="7588672">
                <a:moveTo>
                  <a:pt x="0" y="0"/>
                </a:moveTo>
                <a:lnTo>
                  <a:pt x="7588672" y="0"/>
                </a:lnTo>
                <a:lnTo>
                  <a:pt x="7588672" y="8217252"/>
                </a:lnTo>
                <a:lnTo>
                  <a:pt x="0" y="82172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8626" y="1412881"/>
            <a:ext cx="9842509" cy="612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92"/>
              </a:lnSpc>
            </a:pPr>
            <a:r>
              <a:rPr lang="en-US" b="true" sz="363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ALGORITMO GREEDY BEST-FIRST SEARCH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83020" y="2600992"/>
            <a:ext cx="8602558" cy="381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796" indent="-238398" lvl="1">
              <a:lnSpc>
                <a:spcPts val="3091"/>
              </a:lnSpc>
              <a:buFont typeface="Arial"/>
              <a:buChar char="•"/>
            </a:pPr>
            <a:r>
              <a:rPr lang="en-US" sz="220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Utiliza apenas a heurística h(n).</a:t>
            </a:r>
          </a:p>
          <a:p>
            <a:pPr algn="l">
              <a:lnSpc>
                <a:spcPts val="3091"/>
              </a:lnSpc>
            </a:pPr>
          </a:p>
          <a:p>
            <a:pPr algn="l" marL="476796" indent="-238398" lvl="1">
              <a:lnSpc>
                <a:spcPts val="3091"/>
              </a:lnSpc>
              <a:buFont typeface="Arial"/>
              <a:buChar char="•"/>
            </a:pPr>
            <a:r>
              <a:rPr lang="en-US" sz="220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Escolhe o nó com menor valor heurístico h(n).</a:t>
            </a:r>
          </a:p>
          <a:p>
            <a:pPr algn="l">
              <a:lnSpc>
                <a:spcPts val="3091"/>
              </a:lnSpc>
            </a:pPr>
          </a:p>
          <a:p>
            <a:pPr algn="l" marL="476796" indent="-238398" lvl="1">
              <a:lnSpc>
                <a:spcPts val="3091"/>
              </a:lnSpc>
              <a:buFont typeface="Arial"/>
              <a:buChar char="•"/>
            </a:pPr>
            <a:r>
              <a:rPr lang="en-US" sz="220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Não considera o custo já percorrido.</a:t>
            </a:r>
          </a:p>
          <a:p>
            <a:pPr algn="l">
              <a:lnSpc>
                <a:spcPts val="3091"/>
              </a:lnSpc>
            </a:pPr>
          </a:p>
          <a:p>
            <a:pPr algn="l" marL="476796" indent="-238398" lvl="1">
              <a:lnSpc>
                <a:spcPts val="3091"/>
              </a:lnSpc>
              <a:buFont typeface="Arial"/>
              <a:buChar char="•"/>
            </a:pPr>
            <a:r>
              <a:rPr lang="en-US" sz="220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Geralmente encontra soluções rapidamente.</a:t>
            </a:r>
          </a:p>
          <a:p>
            <a:pPr algn="l">
              <a:lnSpc>
                <a:spcPts val="3091"/>
              </a:lnSpc>
            </a:pPr>
          </a:p>
          <a:p>
            <a:pPr algn="l" marL="476796" indent="-238398" lvl="1">
              <a:lnSpc>
                <a:spcPts val="3091"/>
              </a:lnSpc>
              <a:buFont typeface="Arial"/>
              <a:buChar char="•"/>
            </a:pPr>
            <a:r>
              <a:rPr lang="en-US" sz="220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Não garante o caminho ótimo.</a:t>
            </a:r>
          </a:p>
          <a:p>
            <a:pPr algn="l" marL="0" indent="0" lvl="0">
              <a:lnSpc>
                <a:spcPts val="3091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51277" y="6899296"/>
            <a:ext cx="8736170" cy="232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224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                                  </a:t>
            </a:r>
            <a:r>
              <a:rPr lang="en-US" sz="224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F(n) = H(n)</a:t>
            </a:r>
          </a:p>
          <a:p>
            <a:pPr algn="l">
              <a:lnSpc>
                <a:spcPts val="3139"/>
              </a:lnSpc>
            </a:pPr>
          </a:p>
          <a:p>
            <a:pPr algn="l" marL="484201" indent="-242101" lvl="1">
              <a:lnSpc>
                <a:spcPts val="3139"/>
              </a:lnSpc>
              <a:buFont typeface="Arial"/>
              <a:buChar char="•"/>
            </a:pPr>
            <a:r>
              <a:rPr lang="en-US" sz="224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h(n) = estimativa da distância do nó atual até o objetivo.</a:t>
            </a:r>
          </a:p>
          <a:p>
            <a:pPr algn="l" marL="484201" indent="-242101" lvl="1">
              <a:lnSpc>
                <a:spcPts val="3139"/>
              </a:lnSpc>
              <a:buFont typeface="Arial"/>
              <a:buChar char="•"/>
            </a:pPr>
            <a:r>
              <a:rPr lang="en-US" sz="224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algoritmo escolhe sempre o nó com o menor valor de h(n).</a:t>
            </a:r>
          </a:p>
          <a:p>
            <a:pPr algn="l" marL="0" indent="0" lvl="0">
              <a:lnSpc>
                <a:spcPts val="313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1969" y="867588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0" y="0"/>
                </a:moveTo>
                <a:lnTo>
                  <a:pt x="2049919" y="0"/>
                </a:lnTo>
                <a:lnTo>
                  <a:pt x="20499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209381" y="51435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204991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49919" y="0"/>
                </a:lnTo>
                <a:lnTo>
                  <a:pt x="2049919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92392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462332" y="10477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047750" y="51435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40250" y="10668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2078137" y="1245864"/>
            <a:ext cx="8105338" cy="1220838"/>
            <a:chOff x="0" y="0"/>
            <a:chExt cx="2134739" cy="321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4739" cy="321538"/>
            </a:xfrm>
            <a:custGeom>
              <a:avLst/>
              <a:gdLst/>
              <a:ahLst/>
              <a:cxnLst/>
              <a:rect r="r" b="b" t="t" l="l"/>
              <a:pathLst>
                <a:path h="321538" w="2134739">
                  <a:moveTo>
                    <a:pt x="95516" y="0"/>
                  </a:moveTo>
                  <a:lnTo>
                    <a:pt x="2039223" y="0"/>
                  </a:lnTo>
                  <a:cubicBezTo>
                    <a:pt x="2091975" y="0"/>
                    <a:pt x="2134739" y="42764"/>
                    <a:pt x="2134739" y="95516"/>
                  </a:cubicBezTo>
                  <a:lnTo>
                    <a:pt x="2134739" y="226021"/>
                  </a:lnTo>
                  <a:cubicBezTo>
                    <a:pt x="2134739" y="278774"/>
                    <a:pt x="2091975" y="321538"/>
                    <a:pt x="2039223" y="321538"/>
                  </a:cubicBezTo>
                  <a:lnTo>
                    <a:pt x="95516" y="321538"/>
                  </a:lnTo>
                  <a:cubicBezTo>
                    <a:pt x="70184" y="321538"/>
                    <a:pt x="45889" y="311474"/>
                    <a:pt x="27976" y="293562"/>
                  </a:cubicBezTo>
                  <a:cubicBezTo>
                    <a:pt x="10063" y="275649"/>
                    <a:pt x="0" y="251354"/>
                    <a:pt x="0" y="226021"/>
                  </a:cubicBezTo>
                  <a:lnTo>
                    <a:pt x="0" y="95516"/>
                  </a:lnTo>
                  <a:cubicBezTo>
                    <a:pt x="0" y="42764"/>
                    <a:pt x="42764" y="0"/>
                    <a:pt x="95516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34739" cy="35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308106" y="1221480"/>
            <a:ext cx="6951194" cy="7869276"/>
          </a:xfrm>
          <a:custGeom>
            <a:avLst/>
            <a:gdLst/>
            <a:ahLst/>
            <a:cxnLst/>
            <a:rect r="r" b="b" t="t" l="l"/>
            <a:pathLst>
              <a:path h="7869276" w="6951194">
                <a:moveTo>
                  <a:pt x="0" y="0"/>
                </a:moveTo>
                <a:lnTo>
                  <a:pt x="6951194" y="0"/>
                </a:lnTo>
                <a:lnTo>
                  <a:pt x="6951194" y="7869276"/>
                </a:lnTo>
                <a:lnTo>
                  <a:pt x="0" y="78692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41888" y="1238746"/>
            <a:ext cx="7777838" cy="111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93"/>
              </a:lnSpc>
            </a:pPr>
            <a:r>
              <a:rPr lang="en-US" b="true" sz="649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ALGORITMO A*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78137" y="2419077"/>
            <a:ext cx="8229968" cy="457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7153" indent="-258576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39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ombina custo percorrido g(n) e heurística h(n).</a:t>
            </a:r>
          </a:p>
          <a:p>
            <a:pPr algn="l">
              <a:lnSpc>
                <a:spcPts val="3353"/>
              </a:lnSpc>
            </a:pPr>
          </a:p>
          <a:p>
            <a:pPr algn="l" marL="517153" indent="-258576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Calcula f(n) = g(n) + h(n).</a:t>
            </a:r>
          </a:p>
          <a:p>
            <a:pPr algn="l">
              <a:lnSpc>
                <a:spcPts val="3353"/>
              </a:lnSpc>
            </a:pPr>
          </a:p>
          <a:p>
            <a:pPr algn="l" marL="517153" indent="-258576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Seleciona o nó com menor valor de f(n).</a:t>
            </a:r>
          </a:p>
          <a:p>
            <a:pPr algn="l">
              <a:lnSpc>
                <a:spcPts val="3353"/>
              </a:lnSpc>
            </a:pPr>
          </a:p>
          <a:p>
            <a:pPr algn="l" marL="517153" indent="-258576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Equilibra eficiência e precisão.</a:t>
            </a:r>
          </a:p>
          <a:p>
            <a:pPr algn="l">
              <a:lnSpc>
                <a:spcPts val="3353"/>
              </a:lnSpc>
            </a:pPr>
          </a:p>
          <a:p>
            <a:pPr algn="l" marL="517153" indent="-258576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Garante o caminho ótimo quando a heurística é admissível </a:t>
            </a:r>
          </a:p>
          <a:p>
            <a:pPr algn="l" marL="0" indent="0" lvl="0">
              <a:lnSpc>
                <a:spcPts val="3353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078137" y="6701318"/>
            <a:ext cx="8736170" cy="3105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224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                        </a:t>
            </a:r>
            <a:r>
              <a:rPr lang="en-US" sz="224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F(n) = g(n) +</a:t>
            </a:r>
            <a:r>
              <a:rPr lang="en-US" sz="224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h(n)</a:t>
            </a:r>
          </a:p>
          <a:p>
            <a:pPr algn="l" marL="484201" indent="-242101" lvl="1">
              <a:lnSpc>
                <a:spcPts val="3139"/>
              </a:lnSpc>
              <a:buFont typeface="Arial"/>
              <a:buChar char="•"/>
            </a:pPr>
            <a:r>
              <a:rPr lang="en-US" sz="224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g(n) = custo já percorrido.</a:t>
            </a:r>
          </a:p>
          <a:p>
            <a:pPr algn="l">
              <a:lnSpc>
                <a:spcPts val="3139"/>
              </a:lnSpc>
            </a:pPr>
          </a:p>
          <a:p>
            <a:pPr algn="l" marL="484201" indent="-242101" lvl="1">
              <a:lnSpc>
                <a:spcPts val="3139"/>
              </a:lnSpc>
              <a:buFont typeface="Arial"/>
              <a:buChar char="•"/>
            </a:pPr>
            <a:r>
              <a:rPr lang="en-US" sz="224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h(n) = estimativa do custo restante.</a:t>
            </a:r>
          </a:p>
          <a:p>
            <a:pPr algn="l">
              <a:lnSpc>
                <a:spcPts val="3139"/>
              </a:lnSpc>
            </a:pPr>
          </a:p>
          <a:p>
            <a:pPr algn="l" marL="484201" indent="-242101" lvl="1">
              <a:lnSpc>
                <a:spcPts val="3139"/>
              </a:lnSpc>
              <a:buFont typeface="Arial"/>
              <a:buChar char="•"/>
            </a:pPr>
            <a:r>
              <a:rPr lang="en-US" sz="224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f(n) = custo total estimado.</a:t>
            </a:r>
          </a:p>
          <a:p>
            <a:pPr algn="l">
              <a:lnSpc>
                <a:spcPts val="3139"/>
              </a:lnSpc>
            </a:pPr>
          </a:p>
          <a:p>
            <a:pPr algn="l" marL="0" indent="0" lvl="0">
              <a:lnSpc>
                <a:spcPts val="313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975" y="10287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0" y="0"/>
                </a:moveTo>
                <a:lnTo>
                  <a:pt x="2049919" y="0"/>
                </a:lnTo>
                <a:lnTo>
                  <a:pt x="20499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15291" y="5275952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204991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49918" y="0"/>
                </a:lnTo>
                <a:lnTo>
                  <a:pt x="204991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92392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462332" y="10477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047750" y="51435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40250" y="10668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381357" y="1628230"/>
            <a:ext cx="9525286" cy="1220838"/>
            <a:chOff x="0" y="0"/>
            <a:chExt cx="2508717" cy="321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08717" cy="321538"/>
            </a:xfrm>
            <a:custGeom>
              <a:avLst/>
              <a:gdLst/>
              <a:ahLst/>
              <a:cxnLst/>
              <a:rect r="r" b="b" t="t" l="l"/>
              <a:pathLst>
                <a:path h="321538" w="2508717">
                  <a:moveTo>
                    <a:pt x="81278" y="0"/>
                  </a:moveTo>
                  <a:lnTo>
                    <a:pt x="2427440" y="0"/>
                  </a:lnTo>
                  <a:cubicBezTo>
                    <a:pt x="2472328" y="0"/>
                    <a:pt x="2508717" y="36389"/>
                    <a:pt x="2508717" y="81278"/>
                  </a:cubicBezTo>
                  <a:lnTo>
                    <a:pt x="2508717" y="240260"/>
                  </a:lnTo>
                  <a:cubicBezTo>
                    <a:pt x="2508717" y="285148"/>
                    <a:pt x="2472328" y="321538"/>
                    <a:pt x="2427440" y="321538"/>
                  </a:cubicBezTo>
                  <a:lnTo>
                    <a:pt x="81278" y="321538"/>
                  </a:lnTo>
                  <a:cubicBezTo>
                    <a:pt x="36389" y="321538"/>
                    <a:pt x="0" y="285148"/>
                    <a:pt x="0" y="240260"/>
                  </a:cubicBezTo>
                  <a:lnTo>
                    <a:pt x="0" y="81278"/>
                  </a:lnTo>
                  <a:cubicBezTo>
                    <a:pt x="0" y="36389"/>
                    <a:pt x="36389" y="0"/>
                    <a:pt x="81278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08717" cy="35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616890" y="1805974"/>
            <a:ext cx="9054221" cy="77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78"/>
              </a:lnSpc>
            </a:pPr>
            <a:r>
              <a:rPr lang="en-US" b="true" sz="455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VANTAGENS E DESVANTAGENS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30894" y="3692322"/>
            <a:ext cx="6215582" cy="455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696" indent="-232348" lvl="1">
              <a:lnSpc>
                <a:spcPts val="3013"/>
              </a:lnSpc>
              <a:buFont typeface="Arial"/>
              <a:buChar char="•"/>
            </a:pPr>
            <a:r>
              <a:rPr lang="en-US" sz="215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Encontram sol</a:t>
            </a:r>
            <a:r>
              <a:rPr lang="en-US" sz="215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uções mais rapidamente do que buscas cegas.</a:t>
            </a:r>
          </a:p>
          <a:p>
            <a:pPr algn="l">
              <a:lnSpc>
                <a:spcPts val="3013"/>
              </a:lnSpc>
            </a:pPr>
          </a:p>
          <a:p>
            <a:pPr algn="l" marL="464696" indent="-232348" lvl="1">
              <a:lnSpc>
                <a:spcPts val="3013"/>
              </a:lnSpc>
              <a:buFont typeface="Arial"/>
              <a:buChar char="•"/>
            </a:pPr>
            <a:r>
              <a:rPr lang="en-US" sz="215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Melhor aproveitamento de tempo e recursos computacionais.</a:t>
            </a:r>
          </a:p>
          <a:p>
            <a:pPr algn="l">
              <a:lnSpc>
                <a:spcPts val="3013"/>
              </a:lnSpc>
            </a:pPr>
          </a:p>
          <a:p>
            <a:pPr algn="l" marL="464696" indent="-232348" lvl="1">
              <a:lnSpc>
                <a:spcPts val="3013"/>
              </a:lnSpc>
              <a:buFont typeface="Arial"/>
              <a:buChar char="•"/>
            </a:pPr>
            <a:r>
              <a:rPr lang="en-US" sz="215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Eficientes para problemas de grande complexidade.</a:t>
            </a:r>
          </a:p>
          <a:p>
            <a:pPr algn="l">
              <a:lnSpc>
                <a:spcPts val="3013"/>
              </a:lnSpc>
            </a:pPr>
          </a:p>
          <a:p>
            <a:pPr algn="l" marL="464696" indent="-232348" lvl="1">
              <a:lnSpc>
                <a:spcPts val="3013"/>
              </a:lnSpc>
              <a:buFont typeface="Arial"/>
              <a:buChar char="•"/>
            </a:pPr>
            <a:r>
              <a:rPr lang="en-US" sz="215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Podem encontrar soluções próximas da ótima em pouco tempo.</a:t>
            </a:r>
          </a:p>
          <a:p>
            <a:pPr algn="l" marL="0" indent="0" lvl="0">
              <a:lnSpc>
                <a:spcPts val="301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4117011" y="2909331"/>
            <a:ext cx="2443347" cy="596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</a:pPr>
            <a:r>
              <a:rPr lang="en-US" b="true" sz="349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Vantagens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70951" y="3019425"/>
            <a:ext cx="3354690" cy="596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</a:pPr>
            <a:r>
              <a:rPr lang="en-US" b="true" sz="349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Desvantagens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98913" y="3048000"/>
            <a:ext cx="6498767" cy="531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3"/>
              </a:lnSpc>
            </a:pPr>
          </a:p>
          <a:p>
            <a:pPr algn="l">
              <a:lnSpc>
                <a:spcPts val="3013"/>
              </a:lnSpc>
            </a:pPr>
          </a:p>
          <a:p>
            <a:pPr algn="l" marL="464696" indent="-232348" lvl="1">
              <a:lnSpc>
                <a:spcPts val="3013"/>
              </a:lnSpc>
              <a:buFont typeface="Arial"/>
              <a:buChar char="•"/>
            </a:pPr>
            <a:r>
              <a:rPr lang="en-US" sz="215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Heurísticas inadequadas podem levar a caminhos ineficientes.</a:t>
            </a:r>
          </a:p>
          <a:p>
            <a:pPr algn="l">
              <a:lnSpc>
                <a:spcPts val="3013"/>
              </a:lnSpc>
            </a:pPr>
          </a:p>
          <a:p>
            <a:pPr algn="l" marL="464696" indent="-232348" lvl="1">
              <a:lnSpc>
                <a:spcPts val="3013"/>
              </a:lnSpc>
              <a:buFont typeface="Arial"/>
              <a:buChar char="•"/>
            </a:pPr>
            <a:r>
              <a:rPr lang="en-US" sz="215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Alguns algoritmos, como o Greedy Best-First Search, não garantem a solução ótima.</a:t>
            </a:r>
          </a:p>
          <a:p>
            <a:pPr algn="l">
              <a:lnSpc>
                <a:spcPts val="3013"/>
              </a:lnSpc>
            </a:pPr>
          </a:p>
          <a:p>
            <a:pPr algn="l" marL="464696" indent="-232348" lvl="1">
              <a:lnSpc>
                <a:spcPts val="3013"/>
              </a:lnSpc>
              <a:buFont typeface="Arial"/>
              <a:buChar char="•"/>
            </a:pPr>
            <a:r>
              <a:rPr lang="en-US" sz="215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Podem consumir muita memória em problemas muito grandes.</a:t>
            </a:r>
          </a:p>
          <a:p>
            <a:pPr algn="l">
              <a:lnSpc>
                <a:spcPts val="3013"/>
              </a:lnSpc>
            </a:pPr>
          </a:p>
          <a:p>
            <a:pPr algn="l" marL="464696" indent="-232348" lvl="1">
              <a:lnSpc>
                <a:spcPts val="3013"/>
              </a:lnSpc>
              <a:buFont typeface="Arial"/>
              <a:buChar char="•"/>
            </a:pPr>
            <a:r>
              <a:rPr lang="en-US" sz="215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desempenho varia conforme o problema e a heurística utilizada.</a:t>
            </a:r>
          </a:p>
          <a:p>
            <a:pPr algn="l" marL="0" indent="0" lvl="0">
              <a:lnSpc>
                <a:spcPts val="3013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975" y="10287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0" y="0"/>
                </a:moveTo>
                <a:lnTo>
                  <a:pt x="2049919" y="0"/>
                </a:lnTo>
                <a:lnTo>
                  <a:pt x="20499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215291" y="5275952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204991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49918" y="0"/>
                </a:lnTo>
                <a:lnTo>
                  <a:pt x="204991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92392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462332" y="10477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047750" y="51435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40250" y="10668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381357" y="1484273"/>
            <a:ext cx="9525286" cy="1791440"/>
            <a:chOff x="0" y="0"/>
            <a:chExt cx="2508717" cy="4718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08717" cy="471820"/>
            </a:xfrm>
            <a:custGeom>
              <a:avLst/>
              <a:gdLst/>
              <a:ahLst/>
              <a:cxnLst/>
              <a:rect r="r" b="b" t="t" l="l"/>
              <a:pathLst>
                <a:path h="471820" w="2508717">
                  <a:moveTo>
                    <a:pt x="81278" y="0"/>
                  </a:moveTo>
                  <a:lnTo>
                    <a:pt x="2427440" y="0"/>
                  </a:lnTo>
                  <a:cubicBezTo>
                    <a:pt x="2472328" y="0"/>
                    <a:pt x="2508717" y="36389"/>
                    <a:pt x="2508717" y="81278"/>
                  </a:cubicBezTo>
                  <a:lnTo>
                    <a:pt x="2508717" y="390542"/>
                  </a:lnTo>
                  <a:cubicBezTo>
                    <a:pt x="2508717" y="435430"/>
                    <a:pt x="2472328" y="471820"/>
                    <a:pt x="2427440" y="471820"/>
                  </a:cubicBezTo>
                  <a:lnTo>
                    <a:pt x="81278" y="471820"/>
                  </a:lnTo>
                  <a:cubicBezTo>
                    <a:pt x="36389" y="471820"/>
                    <a:pt x="0" y="435430"/>
                    <a:pt x="0" y="390542"/>
                  </a:cubicBezTo>
                  <a:lnTo>
                    <a:pt x="0" y="81278"/>
                  </a:lnTo>
                  <a:cubicBezTo>
                    <a:pt x="0" y="36389"/>
                    <a:pt x="36389" y="0"/>
                    <a:pt x="81278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08717" cy="509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544469" y="3419587"/>
            <a:ext cx="5235594" cy="5277312"/>
          </a:xfrm>
          <a:custGeom>
            <a:avLst/>
            <a:gdLst/>
            <a:ahLst/>
            <a:cxnLst/>
            <a:rect r="r" b="b" t="t" l="l"/>
            <a:pathLst>
              <a:path h="5277312" w="5235594">
                <a:moveTo>
                  <a:pt x="0" y="0"/>
                </a:moveTo>
                <a:lnTo>
                  <a:pt x="5235594" y="0"/>
                </a:lnTo>
                <a:lnTo>
                  <a:pt x="5235594" y="5277312"/>
                </a:lnTo>
                <a:lnTo>
                  <a:pt x="0" y="52773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16890" y="1542505"/>
            <a:ext cx="9054221" cy="158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78"/>
              </a:lnSpc>
            </a:pPr>
            <a:r>
              <a:rPr lang="en-US" b="true" sz="455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APLICAÇÕES DA BUSCA HEURÍSTICA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97127" y="4713191"/>
            <a:ext cx="13618164" cy="303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696" indent="-232348" lvl="1">
              <a:lnSpc>
                <a:spcPts val="3013"/>
              </a:lnSpc>
              <a:buFont typeface="Arial"/>
              <a:buChar char="•"/>
            </a:pPr>
            <a:r>
              <a:rPr lang="en-US" sz="215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GPS e Navegação: Google Maps, Waze.</a:t>
            </a:r>
          </a:p>
          <a:p>
            <a:pPr algn="l">
              <a:lnSpc>
                <a:spcPts val="3013"/>
              </a:lnSpc>
            </a:pPr>
          </a:p>
          <a:p>
            <a:pPr algn="l" marL="464696" indent="-232348" lvl="1">
              <a:lnSpc>
                <a:spcPts val="3013"/>
              </a:lnSpc>
              <a:buFont typeface="Arial"/>
              <a:buChar char="•"/>
            </a:pPr>
            <a:r>
              <a:rPr lang="en-US" sz="215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Jogos: movimentação de NPCs e jogos de estratégia.</a:t>
            </a:r>
          </a:p>
          <a:p>
            <a:pPr algn="l">
              <a:lnSpc>
                <a:spcPts val="3013"/>
              </a:lnSpc>
            </a:pPr>
          </a:p>
          <a:p>
            <a:pPr algn="l" marL="464696" indent="-232348" lvl="1">
              <a:lnSpc>
                <a:spcPts val="3013"/>
              </a:lnSpc>
              <a:buFont typeface="Arial"/>
              <a:buChar char="•"/>
            </a:pPr>
            <a:r>
              <a:rPr lang="en-US" sz="215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Logística: otimização de rotas e entregas.</a:t>
            </a:r>
          </a:p>
          <a:p>
            <a:pPr algn="l">
              <a:lnSpc>
                <a:spcPts val="3013"/>
              </a:lnSpc>
            </a:pPr>
          </a:p>
          <a:p>
            <a:pPr algn="l">
              <a:lnSpc>
                <a:spcPts val="3013"/>
              </a:lnSpc>
            </a:pPr>
          </a:p>
          <a:p>
            <a:pPr algn="l" marL="0" indent="0" lvl="0">
              <a:lnSpc>
                <a:spcPts val="3013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0" y="0"/>
                </a:moveTo>
                <a:lnTo>
                  <a:pt x="2049919" y="0"/>
                </a:lnTo>
                <a:lnTo>
                  <a:pt x="20499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209381" y="5143500"/>
            <a:ext cx="2049919" cy="4114800"/>
          </a:xfrm>
          <a:custGeom>
            <a:avLst/>
            <a:gdLst/>
            <a:ahLst/>
            <a:cxnLst/>
            <a:rect r="r" b="b" t="t" l="l"/>
            <a:pathLst>
              <a:path h="4114800" w="2049919">
                <a:moveTo>
                  <a:pt x="204991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49919" y="0"/>
                </a:lnTo>
                <a:lnTo>
                  <a:pt x="2049919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92392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462332" y="1047750"/>
            <a:ext cx="13796941" cy="19050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047750" y="51435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40250" y="1066800"/>
            <a:ext cx="0" cy="4089318"/>
          </a:xfrm>
          <a:prstGeom prst="line">
            <a:avLst/>
          </a:prstGeom>
          <a:ln cap="flat" w="38100">
            <a:solidFill>
              <a:srgbClr val="A3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633615" y="1865262"/>
            <a:ext cx="7020769" cy="1220838"/>
            <a:chOff x="0" y="0"/>
            <a:chExt cx="1849092" cy="321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9092" cy="321538"/>
            </a:xfrm>
            <a:custGeom>
              <a:avLst/>
              <a:gdLst/>
              <a:ahLst/>
              <a:cxnLst/>
              <a:rect r="r" b="b" t="t" l="l"/>
              <a:pathLst>
                <a:path h="321538" w="1849092">
                  <a:moveTo>
                    <a:pt x="110272" y="0"/>
                  </a:moveTo>
                  <a:lnTo>
                    <a:pt x="1738820" y="0"/>
                  </a:lnTo>
                  <a:cubicBezTo>
                    <a:pt x="1768066" y="0"/>
                    <a:pt x="1796114" y="11618"/>
                    <a:pt x="1816794" y="32298"/>
                  </a:cubicBezTo>
                  <a:cubicBezTo>
                    <a:pt x="1837474" y="52978"/>
                    <a:pt x="1849092" y="81026"/>
                    <a:pt x="1849092" y="110272"/>
                  </a:cubicBezTo>
                  <a:lnTo>
                    <a:pt x="1849092" y="211266"/>
                  </a:lnTo>
                  <a:cubicBezTo>
                    <a:pt x="1849092" y="240512"/>
                    <a:pt x="1837474" y="268560"/>
                    <a:pt x="1816794" y="289240"/>
                  </a:cubicBezTo>
                  <a:cubicBezTo>
                    <a:pt x="1796114" y="309920"/>
                    <a:pt x="1768066" y="321538"/>
                    <a:pt x="1738820" y="321538"/>
                  </a:cubicBezTo>
                  <a:lnTo>
                    <a:pt x="110272" y="321538"/>
                  </a:lnTo>
                  <a:cubicBezTo>
                    <a:pt x="81026" y="321538"/>
                    <a:pt x="52978" y="309920"/>
                    <a:pt x="32298" y="289240"/>
                  </a:cubicBezTo>
                  <a:cubicBezTo>
                    <a:pt x="11618" y="268560"/>
                    <a:pt x="0" y="240512"/>
                    <a:pt x="0" y="211266"/>
                  </a:cubicBezTo>
                  <a:lnTo>
                    <a:pt x="0" y="110272"/>
                  </a:lnTo>
                  <a:cubicBezTo>
                    <a:pt x="0" y="81026"/>
                    <a:pt x="11618" y="52978"/>
                    <a:pt x="32298" y="32298"/>
                  </a:cubicBezTo>
                  <a:cubicBezTo>
                    <a:pt x="52978" y="11618"/>
                    <a:pt x="81026" y="0"/>
                    <a:pt x="110272" y="0"/>
                  </a:cubicBezTo>
                  <a:close/>
                </a:path>
              </a:pathLst>
            </a:custGeom>
            <a:solidFill>
              <a:srgbClr val="CDCD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49092" cy="35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027818" y="1858143"/>
            <a:ext cx="6232364" cy="111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93"/>
              </a:lnSpc>
            </a:pPr>
            <a:r>
              <a:rPr lang="en-US" b="true" sz="649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17416" y="3924300"/>
            <a:ext cx="9453167" cy="421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6181" indent="-323090" lvl="1">
              <a:lnSpc>
                <a:spcPts val="4190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Equilíbrio entre precisão e eficiência.</a:t>
            </a:r>
          </a:p>
          <a:p>
            <a:pPr algn="ctr">
              <a:lnSpc>
                <a:spcPts val="4190"/>
              </a:lnSpc>
            </a:pPr>
          </a:p>
          <a:p>
            <a:pPr algn="ctr" marL="646181" indent="-323090" lvl="1">
              <a:lnSpc>
                <a:spcPts val="4190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Reduz o impacto da explosão combinatória.</a:t>
            </a:r>
          </a:p>
          <a:p>
            <a:pPr algn="ctr">
              <a:lnSpc>
                <a:spcPts val="4190"/>
              </a:lnSpc>
            </a:pPr>
          </a:p>
          <a:p>
            <a:pPr algn="ctr" marL="646181" indent="-323090" lvl="1">
              <a:lnSpc>
                <a:spcPts val="4190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Torna problemas complexos solucionáveis.</a:t>
            </a:r>
          </a:p>
          <a:p>
            <a:pPr algn="ctr">
              <a:lnSpc>
                <a:spcPts val="4190"/>
              </a:lnSpc>
            </a:pPr>
          </a:p>
          <a:p>
            <a:pPr algn="ctr" marL="646181" indent="-323090" lvl="1">
              <a:lnSpc>
                <a:spcPts val="4190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Fundamental em algoritmos de navegação e IA.</a:t>
            </a:r>
          </a:p>
          <a:p>
            <a:pPr algn="ctr">
              <a:lnSpc>
                <a:spcPts val="419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DAHMG48LRsM</dc:identifier>
  <dcterms:modified xsi:type="dcterms:W3CDTF">2011-08-01T06:04:30Z</dcterms:modified>
  <cp:revision>1</cp:revision>
  <dc:title>Busca Heurística: Introdução e Métodos</dc:title>
</cp:coreProperties>
</file>